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72" r:id="rId7"/>
    <p:sldId id="262" r:id="rId8"/>
    <p:sldId id="274" r:id="rId9"/>
    <p:sldId id="273" r:id="rId10"/>
    <p:sldId id="275" r:id="rId11"/>
    <p:sldId id="276" r:id="rId12"/>
    <p:sldId id="27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Impact" panose="020B0806030902050204" pitchFamily="34" charset="0"/>
      <p:regular r:id="rId22"/>
    </p:embeddedFont>
    <p:embeddedFont>
      <p:font typeface="Inter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4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00" y="1620602"/>
            <a:ext cx="5451344" cy="6924340"/>
          </a:xfrm>
          <a:custGeom>
            <a:avLst/>
            <a:gdLst/>
            <a:ahLst/>
            <a:cxnLst/>
            <a:rect l="l" t="t" r="r" b="b"/>
            <a:pathLst>
              <a:path w="5451344" h="6924340">
                <a:moveTo>
                  <a:pt x="0" y="0"/>
                </a:moveTo>
                <a:lnTo>
                  <a:pt x="5451344" y="0"/>
                </a:lnTo>
                <a:lnTo>
                  <a:pt x="5451344" y="6924340"/>
                </a:lnTo>
                <a:lnTo>
                  <a:pt x="0" y="6924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78324">
            <a:off x="1642685" y="7359440"/>
            <a:ext cx="969389" cy="1306774"/>
          </a:xfrm>
          <a:custGeom>
            <a:avLst/>
            <a:gdLst/>
            <a:ahLst/>
            <a:cxnLst/>
            <a:rect l="l" t="t" r="r" b="b"/>
            <a:pathLst>
              <a:path w="969389" h="1306774">
                <a:moveTo>
                  <a:pt x="0" y="0"/>
                </a:moveTo>
                <a:lnTo>
                  <a:pt x="969389" y="0"/>
                </a:lnTo>
                <a:lnTo>
                  <a:pt x="969389" y="1306774"/>
                </a:lnTo>
                <a:lnTo>
                  <a:pt x="0" y="1306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763000" y="5600700"/>
            <a:ext cx="1127677" cy="1127677"/>
          </a:xfrm>
          <a:custGeom>
            <a:avLst/>
            <a:gdLst/>
            <a:ahLst/>
            <a:cxnLst/>
            <a:rect l="l" t="t" r="r" b="b"/>
            <a:pathLst>
              <a:path w="1127677" h="1127677">
                <a:moveTo>
                  <a:pt x="0" y="0"/>
                </a:moveTo>
                <a:lnTo>
                  <a:pt x="1127677" y="0"/>
                </a:lnTo>
                <a:lnTo>
                  <a:pt x="1127677" y="1127677"/>
                </a:lnTo>
                <a:lnTo>
                  <a:pt x="0" y="1127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1600" y="959577"/>
            <a:ext cx="10287000" cy="3018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480"/>
              </a:lnSpc>
            </a:pPr>
            <a:r>
              <a:rPr lang="ru-RU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Anton"/>
                <a:cs typeface="Anton"/>
                <a:sym typeface="Anton"/>
              </a:rPr>
              <a:t>Топология компьютерных сетей</a:t>
            </a:r>
            <a:endParaRPr lang="en-US" sz="8000" dirty="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Anton"/>
              <a:cs typeface="Anton"/>
              <a:sym typeface="Ant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01400" y="8942705"/>
            <a:ext cx="6858000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ru-RU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Выполнил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ru-RU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Лавриненко Артем Андреевич</a:t>
            </a:r>
            <a:endParaRPr 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8551985" y="752020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298169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698" y="2917717"/>
            <a:ext cx="994410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ru-RU" sz="8000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Что такое сеть? </a:t>
            </a:r>
            <a:endParaRPr lang="en-US" sz="71400" dirty="0">
              <a:solidFill>
                <a:srgbClr val="000000"/>
              </a:solidFill>
              <a:latin typeface="Impact" panose="020B0806030902050204" pitchFamily="34" charset="0"/>
              <a:ea typeface="Anton"/>
              <a:cs typeface="Arial" panose="020B0604020202020204" pitchFamily="34" charset="0"/>
              <a:sym typeface="Anto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699" y="4652396"/>
            <a:ext cx="15981197" cy="1253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Это совокупность устройств и систем, которые подключены друг к другу (логически или физически) и общающихся между собой. Сюда можно отнести сервера, компьютеры, телефоны, маршрутизаторы и так далее. Размер этой сети может достигать размера Интернета, а может состоять всего из двух устройств, соединенных между собой кабелем. Чтобы не было каши, разделим компоненты сети на группы:</a:t>
            </a: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81075"/>
            <a:ext cx="230672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Fradel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and Spies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00" y="460800"/>
            <a:ext cx="15392400" cy="1888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000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Компьютерные сети можно классифицировать по различным критериям</a:t>
            </a:r>
            <a:endParaRPr lang="ru-RU" sz="6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27277" y="4316379"/>
            <a:ext cx="12280901" cy="1165532"/>
            <a:chOff x="0" y="-47625"/>
            <a:chExt cx="16374534" cy="1554043"/>
          </a:xfrm>
        </p:grpSpPr>
        <p:sp>
          <p:nvSpPr>
            <p:cNvPr id="14" name="Freeform 14"/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265891" y="705258"/>
              <a:ext cx="15108643" cy="8011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объединяют абонентов на больших расстояниях, включая разные страны и континенты. Пример WAN — интернет. Такие сети используют спутниковые каналы, оптоволоконные линии и другие средства связи.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65891" y="-47625"/>
              <a:ext cx="12504737" cy="4613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Глобальные сети (</a:t>
              </a:r>
              <a:r>
                <a:rPr lang="en-US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Wide Area Network, WAN) 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3900" y="2889164"/>
            <a:ext cx="12280901" cy="1165532"/>
            <a:chOff x="0" y="-47625"/>
            <a:chExt cx="16374533" cy="1554041"/>
          </a:xfrm>
        </p:grpSpPr>
        <p:sp>
          <p:nvSpPr>
            <p:cNvPr id="18" name="Freeform 18"/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265891" y="705257"/>
              <a:ext cx="15108642" cy="801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охватывают небольшие территории, такие как офисы, школы или дома. Они обеспечивают высокую скорость передачи данных и надежность связи. В таких сетях обычно используются проводные технологии (Ethernet) или беспроводные (</a:t>
              </a:r>
              <a:r>
                <a:rPr lang="ru-RU" sz="1400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Wi</a:t>
              </a: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-Fi).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5891" y="-47625"/>
              <a:ext cx="12504736" cy="4613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Локальные компьютерные сети (Local Area Network, LAN) 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1" name="Group 9">
            <a:extLst>
              <a:ext uri="{FF2B5EF4-FFF2-40B4-BE49-F238E27FC236}">
                <a16:creationId xmlns:a16="http://schemas.microsoft.com/office/drawing/2014/main" id="{C9838637-2924-4453-AE76-7AFD695BCE29}"/>
              </a:ext>
            </a:extLst>
          </p:cNvPr>
          <p:cNvGrpSpPr/>
          <p:nvPr/>
        </p:nvGrpSpPr>
        <p:grpSpPr>
          <a:xfrm>
            <a:off x="790778" y="7072935"/>
            <a:ext cx="12280901" cy="1165532"/>
            <a:chOff x="0" y="-47625"/>
            <a:chExt cx="16374533" cy="1554041"/>
          </a:xfrm>
        </p:grpSpPr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AA078B2C-59D5-4083-B498-0C43563A9DA5}"/>
                </a:ext>
              </a:extLst>
            </p:cNvPr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ABE60427-070E-4D3A-A5E2-937C1F05EA6D}"/>
                </a:ext>
              </a:extLst>
            </p:cNvPr>
            <p:cNvSpPr txBox="1"/>
            <p:nvPr/>
          </p:nvSpPr>
          <p:spPr>
            <a:xfrm>
              <a:off x="1265891" y="705257"/>
              <a:ext cx="15108642" cy="801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предназначена для соединения устройств одного пользователя, например смартфона, ноутбука и наушников, через Bluetooth или </a:t>
              </a:r>
              <a:r>
                <a:rPr lang="ru-RU" sz="1400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Wi</a:t>
              </a: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-Fi.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673431A2-241F-4623-BF23-FADB25D56C72}"/>
                </a:ext>
              </a:extLst>
            </p:cNvPr>
            <p:cNvSpPr txBox="1"/>
            <p:nvPr/>
          </p:nvSpPr>
          <p:spPr>
            <a:xfrm>
              <a:off x="1265889" y="-47625"/>
              <a:ext cx="15023976" cy="4613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Персональная сеть (</a:t>
              </a:r>
              <a:r>
                <a:rPr lang="en-US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Personal Area Network, PAN) </a:t>
              </a:r>
              <a:endParaRPr lang="en-US" sz="24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5" name="Group 13">
            <a:extLst>
              <a:ext uri="{FF2B5EF4-FFF2-40B4-BE49-F238E27FC236}">
                <a16:creationId xmlns:a16="http://schemas.microsoft.com/office/drawing/2014/main" id="{304A21E5-511C-4E55-881A-DF8671F496A9}"/>
              </a:ext>
            </a:extLst>
          </p:cNvPr>
          <p:cNvGrpSpPr/>
          <p:nvPr/>
        </p:nvGrpSpPr>
        <p:grpSpPr>
          <a:xfrm>
            <a:off x="790778" y="5680111"/>
            <a:ext cx="12204701" cy="1165532"/>
            <a:chOff x="0" y="-47625"/>
            <a:chExt cx="16272934" cy="1554043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B3DEBF15-92DA-478F-8AB4-B7D99563C529}"/>
                </a:ext>
              </a:extLst>
            </p:cNvPr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D623234D-7A69-4ABC-9179-ADBE6B2E05CA}"/>
                </a:ext>
              </a:extLst>
            </p:cNvPr>
            <p:cNvSpPr txBox="1"/>
            <p:nvPr/>
          </p:nvSpPr>
          <p:spPr>
            <a:xfrm>
              <a:off x="1265891" y="705258"/>
              <a:ext cx="15007043" cy="8011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занимают промежуточное положение между LAN и WAN. Они охватывают территорию одного города и часто используются для организации интернет-доступа.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911180CB-795E-4294-9533-01366B6A6362}"/>
                </a:ext>
              </a:extLst>
            </p:cNvPr>
            <p:cNvSpPr txBox="1"/>
            <p:nvPr/>
          </p:nvSpPr>
          <p:spPr>
            <a:xfrm>
              <a:off x="1265891" y="-47625"/>
              <a:ext cx="12504737" cy="4613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b="1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Городские</a:t>
              </a:r>
              <a:r>
                <a:rPr lang="en-US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 </a:t>
              </a:r>
              <a:r>
                <a:rPr lang="en-US" sz="2400" b="1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сети</a:t>
              </a:r>
              <a:r>
                <a:rPr lang="en-US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 (Metropolitan Area Network, MAN)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077114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616294"/>
            <a:ext cx="17297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ru-RU" sz="8000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</a:rPr>
              <a:t>Разделим компоненты сети на группы:</a:t>
            </a:r>
            <a:endParaRPr lang="en-US" sz="71400" dirty="0">
              <a:solidFill>
                <a:srgbClr val="000000"/>
              </a:solidFill>
              <a:latin typeface="Impact" panose="020B0806030902050204" pitchFamily="34" charset="0"/>
              <a:ea typeface="Anton"/>
              <a:cs typeface="Anton"/>
              <a:sym typeface="Anto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4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72232" y="4946847"/>
            <a:ext cx="8697661" cy="2166594"/>
            <a:chOff x="0" y="-241102"/>
            <a:chExt cx="5905978" cy="435590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241102"/>
              <a:ext cx="5905978" cy="4355902"/>
              <a:chOff x="0" y="-47625"/>
              <a:chExt cx="1166613" cy="8604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66613" cy="637032"/>
              </a:xfrm>
              <a:custGeom>
                <a:avLst/>
                <a:gdLst/>
                <a:ahLst/>
                <a:cxnLst/>
                <a:rect l="l" t="t" r="r" b="b"/>
                <a:pathLst>
                  <a:path w="1166613" h="812800">
                    <a:moveTo>
                      <a:pt x="0" y="0"/>
                    </a:moveTo>
                    <a:lnTo>
                      <a:pt x="1166613" y="0"/>
                    </a:lnTo>
                    <a:lnTo>
                      <a:pt x="116661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166613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5897" y="1015619"/>
              <a:ext cx="5134181" cy="252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Это устройства, которые соединяют оконечные узлы между собой. Сюда можно отнести коммутаторы, концентраторы, модемы, маршрутизаторы, точки доступа </a:t>
              </a:r>
              <a:r>
                <a:rPr lang="ru-RU" sz="1400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Wi</a:t>
              </a: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-Fi.</a:t>
              </a:r>
              <a:br>
                <a:rPr lang="ru-RU" sz="18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</a:br>
              <a:endParaRPr lang="en-US" sz="18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42092"/>
              <a:ext cx="5797790" cy="4477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ru-RU" sz="20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Промежуточные устройства: </a:t>
              </a:r>
              <a:endParaRPr 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5099" y="6891038"/>
            <a:ext cx="8864299" cy="3238915"/>
            <a:chOff x="0" y="-241102"/>
            <a:chExt cx="6019130" cy="590508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241102"/>
              <a:ext cx="6019130" cy="5067801"/>
              <a:chOff x="0" y="-47625"/>
              <a:chExt cx="1188964" cy="100104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66613" cy="914670"/>
              </a:xfrm>
              <a:custGeom>
                <a:avLst/>
                <a:gdLst/>
                <a:ahLst/>
                <a:cxnLst/>
                <a:rect l="l" t="t" r="r" b="b"/>
                <a:pathLst>
                  <a:path w="1166613" h="812800">
                    <a:moveTo>
                      <a:pt x="0" y="0"/>
                    </a:moveTo>
                    <a:lnTo>
                      <a:pt x="1166613" y="0"/>
                    </a:lnTo>
                    <a:lnTo>
                      <a:pt x="116661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188964" cy="1001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35099" y="1015619"/>
              <a:ext cx="5134181" cy="4648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Это те среды, в которых происходит непосредственная передача данных. Сюда относятся кабели, сетевые карточки, различного рода коннекторы, воздушная среда передачи. Если это медный кабель, то передача данных осуществляется при помощи электрических сигналов. У оптоволоконных кабелей, при помощи световых импульсов. Ну и у беспроводных устройств, при помощи радиоволн.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2032" y="439270"/>
              <a:ext cx="5134181" cy="445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ru-RU" sz="20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Сетевые среды:</a:t>
              </a:r>
              <a:endParaRPr 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7799" y="3053106"/>
            <a:ext cx="8696694" cy="2166594"/>
            <a:chOff x="0" y="-241102"/>
            <a:chExt cx="5905978" cy="435590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-241102"/>
              <a:ext cx="5905978" cy="4355902"/>
              <a:chOff x="0" y="-47625"/>
              <a:chExt cx="1166613" cy="8604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66613" cy="647838"/>
              </a:xfrm>
              <a:custGeom>
                <a:avLst/>
                <a:gdLst/>
                <a:ahLst/>
                <a:cxnLst/>
                <a:rect l="l" t="t" r="r" b="b"/>
                <a:pathLst>
                  <a:path w="1166613" h="812800">
                    <a:moveTo>
                      <a:pt x="0" y="0"/>
                    </a:moveTo>
                    <a:lnTo>
                      <a:pt x="1166613" y="0"/>
                    </a:lnTo>
                    <a:lnTo>
                      <a:pt x="116661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166613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5900" y="1015618"/>
              <a:ext cx="5134181" cy="2083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Устройства, которые передают и/или принимают какие-либо данные. Это могут быть компьютеры, телефоны, сервера, какие-то терминалы или тонкие клиенты, телевизоры.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529" y="439269"/>
              <a:ext cx="5134181" cy="46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ru-RU" sz="20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Оконечные узлы: </a:t>
              </a:r>
              <a:endParaRPr 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BD545AD-077A-4FAA-978A-81493019A6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140" y="4227360"/>
            <a:ext cx="7150739" cy="394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62000" y="806398"/>
            <a:ext cx="15621000" cy="1080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7200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 для чего мы используем сети?</a:t>
            </a:r>
            <a:endParaRPr lang="ru-RU" sz="72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36458" y="2278419"/>
            <a:ext cx="6461432" cy="2447934"/>
            <a:chOff x="0" y="-47625"/>
            <a:chExt cx="8615242" cy="3263909"/>
          </a:xfrm>
        </p:grpSpPr>
        <p:sp>
          <p:nvSpPr>
            <p:cNvPr id="10" name="Freeform 10"/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65891" y="705257"/>
              <a:ext cx="7349350" cy="25110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Используя сервер или рабочую станцию, подключенную к сети, создается хранилище доступное для других. Многие люди выкладывают туда свои файлы, видео, картинки и открывают общий доступ к ним для других пользователей. Пример, который на ходу приходит в голову, — это </a:t>
              </a:r>
              <a:r>
                <a:rPr lang="ru-RU" sz="1400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google</a:t>
              </a: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 диск, </a:t>
              </a:r>
              <a:r>
                <a:rPr lang="ru-RU" sz="1400" dirty="0" err="1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яндекс</a:t>
              </a: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 диск и тому подобные сервисы.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65891" y="-47625"/>
              <a:ext cx="7349351" cy="461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Хранилище: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9300" y="4563516"/>
            <a:ext cx="6461431" cy="1486133"/>
            <a:chOff x="0" y="-47625"/>
            <a:chExt cx="8615241" cy="1981511"/>
          </a:xfrm>
        </p:grpSpPr>
        <p:sp>
          <p:nvSpPr>
            <p:cNvPr id="14" name="Freeform 14"/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265891" y="705258"/>
              <a:ext cx="7349350" cy="1228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Это сетевые принтеры, которыми, к примеру, пользуются в офисе или сетевые камеры, которые просматривает охрана, находясь в удаленной местности.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65891" y="-47625"/>
              <a:ext cx="7349350" cy="469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Сетевые ресурсы: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49300" y="2278419"/>
            <a:ext cx="6461433" cy="1806733"/>
            <a:chOff x="0" y="-47625"/>
            <a:chExt cx="8615243" cy="2408976"/>
          </a:xfrm>
        </p:grpSpPr>
        <p:sp>
          <p:nvSpPr>
            <p:cNvPr id="18" name="Freeform 18"/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265891" y="705257"/>
              <a:ext cx="7349350" cy="1656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При помощи приложений отправляем разные данные между устройствами, открываем доступ к общим ресурсам. Это могут быть как консольные приложения, так и приложения с графическим интерфейсом.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5891" y="-47625"/>
              <a:ext cx="7349352" cy="457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Приложения: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1" name="Group 9">
            <a:extLst>
              <a:ext uri="{FF2B5EF4-FFF2-40B4-BE49-F238E27FC236}">
                <a16:creationId xmlns:a16="http://schemas.microsoft.com/office/drawing/2014/main" id="{C9838637-2924-4453-AE76-7AFD695BCE29}"/>
              </a:ext>
            </a:extLst>
          </p:cNvPr>
          <p:cNvGrpSpPr/>
          <p:nvPr/>
        </p:nvGrpSpPr>
        <p:grpSpPr>
          <a:xfrm>
            <a:off x="9436457" y="5753100"/>
            <a:ext cx="6461432" cy="2447934"/>
            <a:chOff x="0" y="-47625"/>
            <a:chExt cx="8615242" cy="3263909"/>
          </a:xfrm>
        </p:grpSpPr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AA078B2C-59D5-4083-B498-0C43563A9DA5}"/>
                </a:ext>
              </a:extLst>
            </p:cNvPr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ABE60427-070E-4D3A-A5E2-937C1F05EA6D}"/>
                </a:ext>
              </a:extLst>
            </p:cNvPr>
            <p:cNvSpPr txBox="1"/>
            <p:nvPr/>
          </p:nvSpPr>
          <p:spPr>
            <a:xfrm>
              <a:off x="1265891" y="705257"/>
              <a:ext cx="7349350" cy="25110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Часто, в крупных компаниях, используют центральный сервер, куда все компьютеры копируют важные файлы для резервной копии. Это нужно для последующего восстановления данных, если оригинал удалился или повредился. Методов копирования огромное количество: с предварительным сжатием, кодированием и так далее.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673431A2-241F-4623-BF23-FADB25D56C72}"/>
                </a:ext>
              </a:extLst>
            </p:cNvPr>
            <p:cNvSpPr txBox="1"/>
            <p:nvPr/>
          </p:nvSpPr>
          <p:spPr>
            <a:xfrm>
              <a:off x="1265891" y="-47625"/>
              <a:ext cx="7349351" cy="461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ru-RU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Резервное копирование:</a:t>
              </a:r>
              <a:endParaRPr lang="en-US" sz="24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5" name="Group 13">
            <a:extLst>
              <a:ext uri="{FF2B5EF4-FFF2-40B4-BE49-F238E27FC236}">
                <a16:creationId xmlns:a16="http://schemas.microsoft.com/office/drawing/2014/main" id="{304A21E5-511C-4E55-881A-DF8671F496A9}"/>
              </a:ext>
            </a:extLst>
          </p:cNvPr>
          <p:cNvGrpSpPr/>
          <p:nvPr/>
        </p:nvGrpSpPr>
        <p:grpSpPr>
          <a:xfrm>
            <a:off x="749300" y="6644705"/>
            <a:ext cx="6461431" cy="1486133"/>
            <a:chOff x="0" y="-47625"/>
            <a:chExt cx="8615241" cy="1981511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B3DEBF15-92DA-478F-8AB4-B7D99563C529}"/>
                </a:ext>
              </a:extLst>
            </p:cNvPr>
            <p:cNvSpPr/>
            <p:nvPr/>
          </p:nvSpPr>
          <p:spPr>
            <a:xfrm>
              <a:off x="0" y="614911"/>
              <a:ext cx="709875" cy="709875"/>
            </a:xfrm>
            <a:custGeom>
              <a:avLst/>
              <a:gdLst/>
              <a:ahLst/>
              <a:cxnLst/>
              <a:rect l="l" t="t" r="r" b="b"/>
              <a:pathLst>
                <a:path w="709875" h="709875">
                  <a:moveTo>
                    <a:pt x="0" y="0"/>
                  </a:moveTo>
                  <a:lnTo>
                    <a:pt x="709875" y="0"/>
                  </a:lnTo>
                  <a:lnTo>
                    <a:pt x="709875" y="709875"/>
                  </a:lnTo>
                  <a:lnTo>
                    <a:pt x="0" y="70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D623234D-7A69-4ABC-9179-ADBE6B2E05CA}"/>
                </a:ext>
              </a:extLst>
            </p:cNvPr>
            <p:cNvSpPr txBox="1"/>
            <p:nvPr/>
          </p:nvSpPr>
          <p:spPr>
            <a:xfrm>
              <a:off x="1265891" y="705258"/>
              <a:ext cx="7349350" cy="1228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ru-RU" sz="1400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Телефония, работающая по протоколу IP. Применяется она сейчас повсеместно, так как проще, дешевле традиционной телефонии и с каждым годом вытесняет ее.</a:t>
              </a:r>
              <a:endParaRPr lang="en-US" sz="1400" dirty="0">
                <a:solidFill>
                  <a:srgbClr val="000000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911180CB-795E-4294-9533-01366B6A6362}"/>
                </a:ext>
              </a:extLst>
            </p:cNvPr>
            <p:cNvSpPr txBox="1"/>
            <p:nvPr/>
          </p:nvSpPr>
          <p:spPr>
            <a:xfrm>
              <a:off x="1265891" y="-47625"/>
              <a:ext cx="7349350" cy="469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b="1" dirty="0">
                  <a:solidFill>
                    <a:srgbClr val="333333"/>
                  </a:solidFill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VoIP:</a:t>
              </a:r>
              <a:endParaRPr lang="en-US" sz="2800" b="1" dirty="0">
                <a:solidFill>
                  <a:srgbClr val="000000"/>
                </a:solidFill>
                <a:latin typeface="Century Gothic" panose="020B0502020202020204" pitchFamily="34" charset="0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8551985" y="7520200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2981695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44272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459844" y="8725894"/>
            <a:ext cx="532406" cy="532406"/>
          </a:xfrm>
          <a:custGeom>
            <a:avLst/>
            <a:gdLst/>
            <a:ahLst/>
            <a:cxnLst/>
            <a:rect l="l" t="t" r="r" b="b"/>
            <a:pathLst>
              <a:path w="532406" h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698" y="2917717"/>
            <a:ext cx="994410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ru-RU" sz="8000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ТОПОЛОГИЯ</a:t>
            </a:r>
            <a:endParaRPr lang="en-US" sz="71400" dirty="0">
              <a:solidFill>
                <a:srgbClr val="000000"/>
              </a:solidFill>
              <a:latin typeface="Impact" panose="020B0806030902050204" pitchFamily="34" charset="0"/>
              <a:ea typeface="Anton"/>
              <a:cs typeface="Arial" panose="020B0604020202020204" pitchFamily="34" charset="0"/>
              <a:sym typeface="Anto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699" y="4652396"/>
            <a:ext cx="15981197" cy="157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Теперь поговорим о такой важной вещи, как топология. Она делится на 2 большие категории: </a:t>
            </a:r>
            <a:r>
              <a:rPr lang="ru-RU" sz="1800" b="1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физическая</a:t>
            </a: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 и </a:t>
            </a:r>
            <a:r>
              <a:rPr lang="ru-RU" sz="1800" b="1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логическая</a:t>
            </a: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Очень важно понимать их разницу. Итак, </a:t>
            </a:r>
            <a:r>
              <a:rPr lang="ru-RU" sz="1800" b="1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физическая</a:t>
            </a: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 топология — это как наша сеть выглядит. Где находятся узлы, какие сетевые промежуточные устройства используются и где они стоят, какие сетевые кабели используются, как они протянуты и в какой порт воткнуты. </a:t>
            </a:r>
            <a:r>
              <a:rPr lang="ru-RU" sz="1800" b="1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Логическая</a:t>
            </a: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 топология — это каким путем будут идти пакеты в нашей физической топологии. То есть физическая — это как мы расположили устройства, а логическая — это через какие устройства будут проходить пакеты.</a:t>
            </a: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81075"/>
            <a:ext cx="230672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Fradel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and Spies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1141690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129808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Топология с общей шиной (англ.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6ACFDC-4913-4CC0-889F-1906059B399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159020"/>
            <a:ext cx="8610600" cy="4810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6580068" cy="3930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Одна из первых физических топологий. Суть состояла в том, что к одному длинному кабелю подсоединяли все устройства и организовывали локальную сеть. На концах кабеля требовались терминаторы. Как правило — это было сопротивление на 50 Ом, которое использовалось для того, чтобы сигнал не отражался в кабеле. Преимущество ее было только в простоте установки. С точки зрения работоспособности была крайне не устойчивой. Если где-то в кабеле происходил разрыв, то вся сеть оставалась парализованной, до замены кабеля.</a:t>
            </a:r>
            <a:endParaRPr lang="ru-RU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8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103138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Кольцевая топология (англ. Ring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8644820" cy="3337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В данной топологии каждое устройство подключается к 2-ум соседним. Создавая, таким образом, кольцо. Здесь логика такова, что с одного конца компьютер только принимает, а с другого только отправляет. То есть, получается передача по кольцу и следующий компьютер играет роль ретранслятора сигнала. За счет этого нужда в терминаторах отпала. Соответственно, если где-то кабель повреждался, кольцо размыкалось и сеть становилась не работоспособной. Для повышения отказоустойчивости, применяют двойное кольцо, то есть в каждое устройство приходит два кабеля, а не один. Соответственно, при отказе одного кабеля, остается работать резервный.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49EAB3-2400-4F1F-B8BB-1F78235B6E9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990" y="3615034"/>
            <a:ext cx="5791200" cy="55939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95549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9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93994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Топология звезда (англ. Star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8190644" cy="2744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Все устройства подключаются к центральному узлу, который уже является ретранслятором. В наше время данная модель используется в локальных сетях, когда к одному коммутатору подключаются несколько устройств, и он является посредником в передаче. Здесь отказоустойчивость значительно выше, чем в предыдущих двух. При обрыве, какого либо кабеля, выпадает из сети только одно устройство. Все остальные продолжают спокойно работать. Однако если откажет центральное звено, сеть станет неработоспособной.</a:t>
            </a:r>
            <a:r>
              <a:rPr lang="ru-RU" sz="1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197C3C-5D53-4F5A-9177-9699C155EB3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0" y="4017200"/>
            <a:ext cx="4211320" cy="4135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796953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118378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Полносвязная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топология (англ. Full-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Mesh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8190644" cy="1855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Все устройства связаны напрямую друг с другом. То есть с каждого на каждый. Данная модель является, пожалуй, самой отказоустойчивой, так как не зависит от других. Но строить сети на такой модели сложно и дорого. Так как в сети, в которой минимум 1000 компьютеров, придется подключать 1000 кабелей на каждый компьютер.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A98BCC-E733-4D5F-8000-F96E013C56F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526" y="4184420"/>
            <a:ext cx="5359764" cy="4371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69056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142762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Неполносвязная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топология (англ. </a:t>
            </a:r>
            <a:r>
              <a:rPr lang="en-US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Partial-Mesh Topology)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8190644" cy="363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Как правило, вариантов ее несколько. Она похожа по строению на </a:t>
            </a:r>
            <a:r>
              <a:rPr lang="ru-RU" sz="1800" dirty="0" err="1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полносвязную</a:t>
            </a: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топологию. Однако соединение построено не с каждого на каждый, а через дополнительные узлы. То есть узел A, связан напрямую только с узлом B, а узел B связан и с узлом A, и с узлом C. Так вот, чтобы узлу A отправить сообщение узлу C, ему надо отправить сначала узлу B, а узел B в свою очередь отправит это сообщение узлу C. В принципе по этой топологии работают маршрутизаторы. Приведу пример из домашней сети. Когда вы из дома выходите в Интернет, у вас нет прямого кабеля до всех узлов, и вы отправляете данные своему провайдеру, а он уже знает куда эти данные нужно отправить.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164934-2159-472E-91E0-88DAE548BB6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301141"/>
            <a:ext cx="6795770" cy="4607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806002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678324">
            <a:off x="748546" y="8459969"/>
            <a:ext cx="774837" cy="1044510"/>
          </a:xfrm>
          <a:custGeom>
            <a:avLst/>
            <a:gdLst/>
            <a:ahLst/>
            <a:cxnLst/>
            <a:rect l="l" t="t" r="r" b="b"/>
            <a:pathLst>
              <a:path w="774837" h="1044510">
                <a:moveTo>
                  <a:pt x="0" y="0"/>
                </a:moveTo>
                <a:lnTo>
                  <a:pt x="774836" y="0"/>
                </a:lnTo>
                <a:lnTo>
                  <a:pt x="774836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09896" y="5301128"/>
            <a:ext cx="498808" cy="849363"/>
          </a:xfrm>
          <a:custGeom>
            <a:avLst/>
            <a:gdLst/>
            <a:ahLst/>
            <a:cxnLst/>
            <a:rect l="l" t="t" r="r" b="b"/>
            <a:pathLst>
              <a:path w="498808" h="849363">
                <a:moveTo>
                  <a:pt x="0" y="0"/>
                </a:moveTo>
                <a:lnTo>
                  <a:pt x="498808" y="0"/>
                </a:lnTo>
                <a:lnTo>
                  <a:pt x="498808" y="849363"/>
                </a:lnTo>
                <a:lnTo>
                  <a:pt x="0" y="849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97890" y="981075"/>
            <a:ext cx="1350178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</a:t>
            </a:r>
            <a:r>
              <a:rPr lang="ru-RU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932" y="1163955"/>
            <a:ext cx="10009068" cy="251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Смешанная топология (англ. Hybrid </a:t>
            </a:r>
            <a:r>
              <a:rPr lang="ru-RU" sz="8000" b="1" dirty="0" err="1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r>
              <a:rPr lang="ru-RU" sz="8000" b="1" dirty="0">
                <a:solidFill>
                  <a:srgbClr val="333333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8000" dirty="0"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34E6A-BC88-4B47-8811-9E42A4B73553}"/>
              </a:ext>
            </a:extLst>
          </p:cNvPr>
          <p:cNvSpPr txBox="1"/>
          <p:nvPr/>
        </p:nvSpPr>
        <p:spPr>
          <a:xfrm>
            <a:off x="651580" y="4159020"/>
            <a:ext cx="8190644" cy="244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ru-RU" sz="1800" dirty="0">
                <a:solidFill>
                  <a:srgbClr val="333333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Самая популярная топология, которая объединила все топологии выше в себя. Представляет собой древовидную структуру, которая объединяет все топологии. Одна из самых отказоустойчивых топологий, так как если у двух площадок произойдет обрыв, то парализована будет связь только между ними, а все остальные объединенные площадки будут работать безотказно. На сегодняшний день, данная топология используется во всех средних и крупных компаниях.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4302DE-D06E-40B8-8348-ED94234D0CA3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3185041"/>
            <a:ext cx="4765040" cy="593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5514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1284</Words>
  <Application>Microsoft Office PowerPoint</Application>
  <PresentationFormat>Произвольный</PresentationFormat>
  <Paragraphs>60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Impact</vt:lpstr>
      <vt:lpstr>Calibri</vt:lpstr>
      <vt:lpstr>Arial</vt:lpstr>
      <vt:lpstr>Times New Roman</vt:lpstr>
      <vt:lpstr>Inter Medium</vt:lpstr>
      <vt:lpstr>Century Gothic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Illustrative Computer Presentation</dc:title>
  <cp:lastModifiedBy>admin .</cp:lastModifiedBy>
  <cp:revision>7</cp:revision>
  <dcterms:created xsi:type="dcterms:W3CDTF">2006-08-16T00:00:00Z</dcterms:created>
  <dcterms:modified xsi:type="dcterms:W3CDTF">2026-02-25T09:50:17Z</dcterms:modified>
  <dc:identifier>DAHCEV4uNS0</dc:identifier>
</cp:coreProperties>
</file>