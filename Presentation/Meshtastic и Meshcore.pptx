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57" r:id="rId4"/>
    <p:sldId id="267" r:id="rId5"/>
    <p:sldId id="271" r:id="rId6"/>
    <p:sldId id="258" r:id="rId7"/>
    <p:sldId id="272" r:id="rId8"/>
    <p:sldId id="265" r:id="rId9"/>
    <p:sldId id="270" r:id="rId10"/>
  </p:sldIdLst>
  <p:sldSz cx="18288000" cy="10287000"/>
  <p:notesSz cx="6858000" cy="9144000"/>
  <p:embeddedFontLst>
    <p:embeddedFont>
      <p:font typeface="Arial Black" panose="020B0A04020102020204" pitchFamily="34" charset="0"/>
      <p:bold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scadia Code SemiBold" panose="020B0609020000020004" pitchFamily="49" charset="0"/>
      <p:bold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716" y="9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hyperlink" Target="https://cnx-software.ru/2024/08/31/lilygo-t-deck-plus-esp32-s3-komplekt-razrabotchika-v-stile-blackberry-s-qwerty-klaviaturoj-trekbolom-lora-gps-akkumulyatorom-i-mnogim-drugim/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2.svg"/><Relationship Id="rId10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66461" y="2088054"/>
            <a:ext cx="2140986" cy="2140986"/>
          </a:xfrm>
          <a:custGeom>
            <a:avLst/>
            <a:gdLst/>
            <a:ahLst/>
            <a:cxnLst/>
            <a:rect l="l" t="t" r="r" b="b"/>
            <a:pathLst>
              <a:path w="2140986" h="2140986">
                <a:moveTo>
                  <a:pt x="0" y="0"/>
                </a:moveTo>
                <a:lnTo>
                  <a:pt x="2140986" y="0"/>
                </a:lnTo>
                <a:lnTo>
                  <a:pt x="2140986" y="2140986"/>
                </a:lnTo>
                <a:lnTo>
                  <a:pt x="0" y="2140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rot="5400000">
            <a:off x="-548076" y="5095875"/>
            <a:ext cx="10287000" cy="0"/>
          </a:xfrm>
          <a:prstGeom prst="line">
            <a:avLst/>
          </a:prstGeom>
          <a:ln w="95250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rot="5400000">
            <a:off x="3999723" y="5095875"/>
            <a:ext cx="10287000" cy="0"/>
          </a:xfrm>
          <a:prstGeom prst="line">
            <a:avLst/>
          </a:prstGeom>
          <a:ln w="95250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400000">
            <a:off x="8547522" y="5095875"/>
            <a:ext cx="10287000" cy="0"/>
          </a:xfrm>
          <a:prstGeom prst="line">
            <a:avLst/>
          </a:prstGeom>
          <a:ln w="95250" cap="flat">
            <a:solidFill>
              <a:srgbClr val="FAFA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368951" y="2418478"/>
            <a:ext cx="11737449" cy="1645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25"/>
              </a:lnSpc>
            </a:pPr>
            <a:r>
              <a:rPr lang="en-US" sz="13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Poppins Ultra-Bold"/>
                <a:cs typeface="Times New Roman" panose="02020603050405020304" pitchFamily="18" charset="0"/>
                <a:sym typeface="Poppins Ultra-Bold"/>
              </a:rPr>
              <a:t>Meshtastic</a:t>
            </a:r>
            <a:endParaRPr lang="en-US" sz="13791" b="1" dirty="0">
              <a:solidFill>
                <a:srgbClr val="000000"/>
              </a:solidFill>
              <a:latin typeface="Times New Roman" panose="02020603050405020304" pitchFamily="18" charset="0"/>
              <a:ea typeface="Poppins Ultra-Bold"/>
              <a:cs typeface="Times New Roman" panose="02020603050405020304" pitchFamily="18" charset="0"/>
              <a:sym typeface="Poppins Ultra-Bold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0" y="9248775"/>
            <a:ext cx="542471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4398065" y="2673203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7541166" y="8254272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-5400000">
            <a:off x="14414953" y="2673203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-5400000">
            <a:off x="7558054" y="8254272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562933" y="571483"/>
            <a:ext cx="465767" cy="326037"/>
          </a:xfrm>
          <a:custGeom>
            <a:avLst/>
            <a:gdLst/>
            <a:ahLst/>
            <a:cxnLst/>
            <a:rect l="l" t="t" r="r" b="b"/>
            <a:pathLst>
              <a:path w="465767" h="326037">
                <a:moveTo>
                  <a:pt x="0" y="0"/>
                </a:moveTo>
                <a:lnTo>
                  <a:pt x="465767" y="0"/>
                </a:lnTo>
                <a:lnTo>
                  <a:pt x="465767" y="326037"/>
                </a:lnTo>
                <a:lnTo>
                  <a:pt x="0" y="3260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ACF21A-9ABB-46C8-B92F-66A5DEF1C4E4}"/>
              </a:ext>
            </a:extLst>
          </p:cNvPr>
          <p:cNvSpPr txBox="1"/>
          <p:nvPr/>
        </p:nvSpPr>
        <p:spPr>
          <a:xfrm>
            <a:off x="6324600" y="4390942"/>
            <a:ext cx="11487119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3800" b="1" dirty="0">
                <a:solidFill>
                  <a:srgbClr val="000000"/>
                </a:solidFill>
                <a:latin typeface="Arial Black" panose="020B0A04020102020204" pitchFamily="34" charset="0"/>
                <a:ea typeface="Poppins Ultra-Bold"/>
                <a:cs typeface="Poppins Ultra-Bold"/>
                <a:sym typeface="Poppins Ultra-Bold"/>
              </a:rPr>
              <a:t>и </a:t>
            </a:r>
            <a:r>
              <a:rPr lang="en-US" sz="13800" b="1" dirty="0" err="1">
                <a:solidFill>
                  <a:srgbClr val="000000"/>
                </a:solidFill>
                <a:latin typeface="Arial Black" panose="020B0A04020102020204" pitchFamily="34" charset="0"/>
                <a:ea typeface="Poppins Ultra-Bold"/>
                <a:cs typeface="Poppins Ultra-Bold"/>
                <a:sym typeface="Poppins Ultra-Bold"/>
              </a:rPr>
              <a:t>Meshcore</a:t>
            </a:r>
            <a:endParaRPr lang="en-US" sz="13800" b="1" dirty="0">
              <a:solidFill>
                <a:srgbClr val="000000"/>
              </a:solidFill>
              <a:latin typeface="Arial Black" panose="020B0A04020102020204" pitchFamily="34" charset="0"/>
              <a:ea typeface="Poppins Ultra-Bold"/>
              <a:cs typeface="Poppins Ultra-Bold"/>
              <a:sym typeface="Poppins Ultra-Bold"/>
            </a:endParaRPr>
          </a:p>
          <a:p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F3E452-7D47-479D-83EC-5A6685BC4612}"/>
              </a:ext>
            </a:extLst>
          </p:cNvPr>
          <p:cNvSpPr txBox="1"/>
          <p:nvPr/>
        </p:nvSpPr>
        <p:spPr>
          <a:xfrm>
            <a:off x="1447800" y="6860277"/>
            <a:ext cx="16363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1" dirty="0">
                <a:solidFill>
                  <a:srgbClr val="00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С</a:t>
            </a:r>
            <a:r>
              <a:rPr lang="ru-RU" sz="3600" b="1" dirty="0">
                <a:solidFill>
                  <a:srgbClr val="00000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истема пересылки коротких текстовых сообщений без интернета</a:t>
            </a:r>
            <a:endParaRPr lang="en-US" sz="32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2933" y="571483"/>
            <a:ext cx="465767" cy="326037"/>
          </a:xfrm>
          <a:custGeom>
            <a:avLst/>
            <a:gdLst/>
            <a:ahLst/>
            <a:cxnLst/>
            <a:rect l="l" t="t" r="r" b="b"/>
            <a:pathLst>
              <a:path w="465767" h="326037">
                <a:moveTo>
                  <a:pt x="0" y="0"/>
                </a:moveTo>
                <a:lnTo>
                  <a:pt x="465767" y="0"/>
                </a:lnTo>
                <a:lnTo>
                  <a:pt x="465767" y="326037"/>
                </a:lnTo>
                <a:lnTo>
                  <a:pt x="0" y="326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71600" y="2778044"/>
            <a:ext cx="13358186" cy="933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88"/>
              </a:lnSpc>
            </a:pPr>
            <a:r>
              <a:rPr lang="ru-RU" sz="7200" dirty="0">
                <a:solidFill>
                  <a:srgbClr val="000000"/>
                </a:solidFill>
                <a:latin typeface="Arial Black" panose="020B0A04020102020204" pitchFamily="34" charset="0"/>
                <a:ea typeface="Poppins"/>
                <a:cs typeface="Poppins"/>
                <a:sym typeface="Poppins"/>
              </a:rPr>
              <a:t>Что такое </a:t>
            </a:r>
            <a:r>
              <a:rPr lang="en-US" sz="7200" dirty="0">
                <a:solidFill>
                  <a:srgbClr val="000000"/>
                </a:solidFill>
                <a:latin typeface="Arial Black" panose="020B0A04020102020204" pitchFamily="34" charset="0"/>
                <a:ea typeface="Poppins"/>
                <a:cs typeface="Poppins"/>
                <a:sym typeface="Poppins"/>
              </a:rPr>
              <a:t>LoRa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6553200" y="4684118"/>
            <a:ext cx="0" cy="8730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6531374" y="2175690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2795430" y="9053669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rot="-5400000">
            <a:off x="16548262" y="2175690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-5400000">
            <a:off x="2795431" y="9053669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7849D81-1EF9-477B-B864-E9C9DD9D85C7}"/>
              </a:ext>
            </a:extLst>
          </p:cNvPr>
          <p:cNvSpPr/>
          <p:nvPr/>
        </p:nvSpPr>
        <p:spPr>
          <a:xfrm>
            <a:off x="1414238" y="4684118"/>
            <a:ext cx="4889501" cy="211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LoRa</a:t>
            </a:r>
            <a:r>
              <a:rPr lang="en-US" sz="28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— </a:t>
            </a:r>
            <a:r>
              <a:rPr lang="ru-RU" sz="2400" b="1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технология передачи данных по радиоканалу в сравнительно большом радиусе</a:t>
            </a:r>
            <a:endParaRPr lang="en-US" sz="28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053E773C-E67E-474A-BAB0-B68E7B241AC7}"/>
              </a:ext>
            </a:extLst>
          </p:cNvPr>
          <p:cNvSpPr/>
          <p:nvPr/>
        </p:nvSpPr>
        <p:spPr>
          <a:xfrm>
            <a:off x="6819902" y="4598139"/>
            <a:ext cx="563476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Россия</a:t>
            </a:r>
            <a:r>
              <a:rPr lang="en-US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 864–865.5 и 868.7–869.2 МГц. Другие регионы — иные </a:t>
            </a:r>
            <a:r>
              <a:rPr lang="ru-RU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диапазоны</a:t>
            </a:r>
          </a:p>
        </p:txBody>
      </p:sp>
      <p:sp>
        <p:nvSpPr>
          <p:cNvPr id="28" name="AutoShape 10">
            <a:extLst>
              <a:ext uri="{FF2B5EF4-FFF2-40B4-BE49-F238E27FC236}">
                <a16:creationId xmlns:a16="http://schemas.microsoft.com/office/drawing/2014/main" id="{9269A7FE-28A7-4BA8-B3E8-CC778BA0C149}"/>
              </a:ext>
            </a:extLst>
          </p:cNvPr>
          <p:cNvSpPr/>
          <p:nvPr/>
        </p:nvSpPr>
        <p:spPr>
          <a:xfrm flipV="1">
            <a:off x="12573000" y="4598139"/>
            <a:ext cx="0" cy="8730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02DA25-ECD0-4C0D-AC2F-46AE018F20CA}"/>
              </a:ext>
            </a:extLst>
          </p:cNvPr>
          <p:cNvSpPr txBox="1"/>
          <p:nvPr/>
        </p:nvSpPr>
        <p:spPr>
          <a:xfrm>
            <a:off x="12801600" y="4500899"/>
            <a:ext cx="4648200" cy="817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400" b="1" dirty="0">
                <a:solidFill>
                  <a:srgbClr val="00000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Дальность покрытия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LoRA</a:t>
            </a:r>
            <a:r>
              <a:rPr lang="ru-RU" sz="2400" b="1" dirty="0">
                <a:solidFill>
                  <a:srgbClr val="00000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 — 1—15 км</a:t>
            </a:r>
            <a:endParaRPr lang="en-US" sz="20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28700" y="1246474"/>
            <a:ext cx="10348649" cy="676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7200" dirty="0" err="1">
                <a:latin typeface="Arial Black" panose="020B0A04020102020204" pitchFamily="34" charset="0"/>
                <a:ea typeface="Crimson Pro Semi Bold" pitchFamily="34" charset="-122"/>
                <a:cs typeface="Crimson Pro Semi Bold" pitchFamily="34" charset="-120"/>
              </a:rPr>
              <a:t>Meshtastic</a:t>
            </a:r>
            <a:endParaRPr lang="en-US" sz="7200" dirty="0">
              <a:latin typeface="Arial Black" panose="020B0A04020102020204" pitchFamily="34" charset="0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15147117" y="2115534"/>
            <a:ext cx="314088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4E163B-5F42-4207-B32D-1F41A543435D}"/>
              </a:ext>
            </a:extLst>
          </p:cNvPr>
          <p:cNvSpPr txBox="1"/>
          <p:nvPr/>
        </p:nvSpPr>
        <p:spPr>
          <a:xfrm>
            <a:off x="954910" y="2552700"/>
            <a:ext cx="157626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О</a:t>
            </a:r>
            <a:r>
              <a:rPr lang="ru-RU" sz="2400" dirty="0">
                <a:solidFill>
                  <a:srgbClr val="00000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собый режим работы </a:t>
            </a:r>
            <a:r>
              <a:rPr lang="ru-RU" sz="2400" dirty="0" err="1">
                <a:solidFill>
                  <a:srgbClr val="00000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LoRa</a:t>
            </a:r>
            <a:r>
              <a:rPr lang="ru-RU" sz="2400" dirty="0">
                <a:solidFill>
                  <a:srgbClr val="00000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-устройств, который объединяет их в ячеистую сеть, она же </a:t>
            </a:r>
            <a:r>
              <a:rPr lang="ru-RU" sz="2400" dirty="0" err="1">
                <a:solidFill>
                  <a:srgbClr val="000000"/>
                </a:solidFill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Mesh</a:t>
            </a:r>
            <a:endParaRPr lang="en-US" sz="2400"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ru-RU" dirty="0"/>
          </a:p>
        </p:txBody>
      </p:sp>
      <p:pic>
        <p:nvPicPr>
          <p:cNvPr id="28" name="Рисунок 27" descr="Структура сети Meshtastic: передатчики «общаются» между собой по LoRa, а для связи со смартфонами и компьютерами используют более привычный Bluetooth. Изображение: meshtastic.org">
            <a:extLst>
              <a:ext uri="{FF2B5EF4-FFF2-40B4-BE49-F238E27FC236}">
                <a16:creationId xmlns:a16="http://schemas.microsoft.com/office/drawing/2014/main" id="{CB0319CF-ECC4-4313-AD45-F450ACAB642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618" y="3467100"/>
            <a:ext cx="9034763" cy="6026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2933" y="571483"/>
            <a:ext cx="465767" cy="326037"/>
          </a:xfrm>
          <a:custGeom>
            <a:avLst/>
            <a:gdLst/>
            <a:ahLst/>
            <a:cxnLst/>
            <a:rect l="l" t="t" r="r" b="b"/>
            <a:pathLst>
              <a:path w="465767" h="326037">
                <a:moveTo>
                  <a:pt x="0" y="0"/>
                </a:moveTo>
                <a:lnTo>
                  <a:pt x="465767" y="0"/>
                </a:lnTo>
                <a:lnTo>
                  <a:pt x="465767" y="326037"/>
                </a:lnTo>
                <a:lnTo>
                  <a:pt x="0" y="326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9243" y="1479186"/>
            <a:ext cx="15283881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ru-RU" sz="7200" b="1" dirty="0" err="1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Meshtastic</a:t>
            </a:r>
            <a:r>
              <a:rPr lang="ru-RU" sz="7200" b="1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-модем для самостоятельной досборки</a:t>
            </a:r>
            <a:r>
              <a:rPr lang="ru-RU" sz="7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6278805" y="2193399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-5400000">
            <a:off x="16295693" y="2193399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2"/>
          <p:cNvSpPr/>
          <p:nvPr/>
        </p:nvSpPr>
        <p:spPr>
          <a:xfrm>
            <a:off x="1028700" y="9019072"/>
            <a:ext cx="2140986" cy="2140986"/>
          </a:xfrm>
          <a:custGeom>
            <a:avLst/>
            <a:gdLst/>
            <a:ahLst/>
            <a:cxnLst/>
            <a:rect l="l" t="t" r="r" b="b"/>
            <a:pathLst>
              <a:path w="2140986" h="2140986">
                <a:moveTo>
                  <a:pt x="0" y="0"/>
                </a:moveTo>
                <a:lnTo>
                  <a:pt x="2140986" y="0"/>
                </a:lnTo>
                <a:lnTo>
                  <a:pt x="2140986" y="2140985"/>
                </a:lnTo>
                <a:lnTo>
                  <a:pt x="0" y="2140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2E70EB1-22DA-4BFB-897C-E85D67D86A0F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485209"/>
            <a:ext cx="7731416" cy="421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2933" y="571483"/>
            <a:ext cx="465767" cy="326037"/>
          </a:xfrm>
          <a:custGeom>
            <a:avLst/>
            <a:gdLst/>
            <a:ahLst/>
            <a:cxnLst/>
            <a:rect l="l" t="t" r="r" b="b"/>
            <a:pathLst>
              <a:path w="465767" h="326037">
                <a:moveTo>
                  <a:pt x="0" y="0"/>
                </a:moveTo>
                <a:lnTo>
                  <a:pt x="465767" y="0"/>
                </a:lnTo>
                <a:lnTo>
                  <a:pt x="465767" y="326037"/>
                </a:lnTo>
                <a:lnTo>
                  <a:pt x="0" y="326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9243" y="1479186"/>
            <a:ext cx="15283881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ru-RU" sz="7200" b="1" dirty="0">
                <a:solidFill>
                  <a:srgbClr val="000000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</a:rPr>
              <a:t>Коммуникатор на основе </a:t>
            </a:r>
            <a:r>
              <a:rPr lang="ru-RU" sz="7200" b="1" dirty="0" err="1">
                <a:solidFill>
                  <a:srgbClr val="000000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</a:rPr>
              <a:t>Meshtastic</a:t>
            </a:r>
            <a:endParaRPr lang="ru-RU" sz="496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6278805" y="2193399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rot="-5400000">
            <a:off x="16295693" y="2193399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2"/>
          <p:cNvSpPr/>
          <p:nvPr/>
        </p:nvSpPr>
        <p:spPr>
          <a:xfrm>
            <a:off x="1028700" y="9019072"/>
            <a:ext cx="2140986" cy="2140986"/>
          </a:xfrm>
          <a:custGeom>
            <a:avLst/>
            <a:gdLst/>
            <a:ahLst/>
            <a:cxnLst/>
            <a:rect l="l" t="t" r="r" b="b"/>
            <a:pathLst>
              <a:path w="2140986" h="2140986">
                <a:moveTo>
                  <a:pt x="0" y="0"/>
                </a:moveTo>
                <a:lnTo>
                  <a:pt x="2140986" y="0"/>
                </a:lnTo>
                <a:lnTo>
                  <a:pt x="2140986" y="2140985"/>
                </a:lnTo>
                <a:lnTo>
                  <a:pt x="0" y="21409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034A41-3E1F-49AF-98CD-E03B25E209E5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0" y="3102233"/>
            <a:ext cx="5940425" cy="5940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3730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 descr="подключение к сети meshcore">
            <a:extLst>
              <a:ext uri="{FF2B5EF4-FFF2-40B4-BE49-F238E27FC236}">
                <a16:creationId xmlns:a16="http://schemas.microsoft.com/office/drawing/2014/main" id="{DD5060D3-D6B8-4A82-962F-2CD29D6C740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774" y="3578882"/>
            <a:ext cx="10896600" cy="53626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AutoShape 2"/>
          <p:cNvSpPr/>
          <p:nvPr/>
        </p:nvSpPr>
        <p:spPr>
          <a:xfrm>
            <a:off x="4030874" y="9258300"/>
            <a:ext cx="1322842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562933" y="571483"/>
            <a:ext cx="465767" cy="326037"/>
          </a:xfrm>
          <a:custGeom>
            <a:avLst/>
            <a:gdLst/>
            <a:ahLst/>
            <a:cxnLst/>
            <a:rect l="l" t="t" r="r" b="b"/>
            <a:pathLst>
              <a:path w="465767" h="326037">
                <a:moveTo>
                  <a:pt x="0" y="0"/>
                </a:moveTo>
                <a:lnTo>
                  <a:pt x="465767" y="0"/>
                </a:lnTo>
                <a:lnTo>
                  <a:pt x="465767" y="326037"/>
                </a:lnTo>
                <a:lnTo>
                  <a:pt x="0" y="326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82685" y="1461026"/>
            <a:ext cx="7404263" cy="1127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7200" b="1" spc="-10" dirty="0" err="1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Meshcore</a:t>
            </a:r>
            <a:endParaRPr lang="ru-RU" sz="72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82685" y="2693206"/>
            <a:ext cx="14290711" cy="1161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2400" dirty="0" err="1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Meshcore</a:t>
            </a:r>
            <a:r>
              <a:rPr lang="ru-RU" sz="240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— это открытая мультиплатформенная децентрализованная система для безопасной текстовой связи без зависимости от интернета с использованием радиооборудования </a:t>
            </a:r>
            <a:r>
              <a:rPr lang="ru-RU" sz="2400" dirty="0" err="1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LoRa</a:t>
            </a:r>
            <a:r>
              <a:rPr lang="ru-RU" sz="240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</a:p>
        </p:txBody>
      </p:sp>
      <p:sp>
        <p:nvSpPr>
          <p:cNvPr id="12" name="AutoShape 12"/>
          <p:cNvSpPr/>
          <p:nvPr/>
        </p:nvSpPr>
        <p:spPr>
          <a:xfrm rot="-5400000">
            <a:off x="16295693" y="2440636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6278805" y="2440636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030874" y="9258300"/>
            <a:ext cx="1322842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562933" y="571483"/>
            <a:ext cx="465767" cy="326037"/>
          </a:xfrm>
          <a:custGeom>
            <a:avLst/>
            <a:gdLst/>
            <a:ahLst/>
            <a:cxnLst/>
            <a:rect l="l" t="t" r="r" b="b"/>
            <a:pathLst>
              <a:path w="465767" h="326037">
                <a:moveTo>
                  <a:pt x="0" y="0"/>
                </a:moveTo>
                <a:lnTo>
                  <a:pt x="465767" y="0"/>
                </a:lnTo>
                <a:lnTo>
                  <a:pt x="465767" y="326037"/>
                </a:lnTo>
                <a:lnTo>
                  <a:pt x="0" y="326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82685" y="1461026"/>
            <a:ext cx="7404263" cy="1127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7200" b="1" spc="-10" dirty="0" err="1"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Meshcore</a:t>
            </a:r>
            <a:endParaRPr lang="ru-RU" sz="72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82685" y="2693206"/>
            <a:ext cx="7127915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lang="ru-RU" sz="240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Использование </a:t>
            </a:r>
            <a:r>
              <a:rPr lang="en-US" sz="2400" dirty="0" err="1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MechCore</a:t>
            </a:r>
            <a:r>
              <a:rPr lang="ru-RU" sz="240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может происходит через отдельное устройство  </a:t>
            </a:r>
            <a:r>
              <a:rPr lang="ru-RU" sz="2400" u="sng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LILYGO T-</a:t>
            </a:r>
            <a:r>
              <a:rPr lang="ru-RU" sz="2400" u="sng" dirty="0" err="1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Deck</a:t>
            </a:r>
            <a:r>
              <a:rPr lang="ru-RU" sz="2400" u="sng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Plus</a:t>
            </a:r>
            <a:r>
              <a:rPr lang="ru-RU" sz="2400" dirty="0">
                <a:effectLst/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или же через модуль + приложение на телефоне.</a:t>
            </a:r>
          </a:p>
        </p:txBody>
      </p:sp>
      <p:sp>
        <p:nvSpPr>
          <p:cNvPr id="12" name="AutoShape 12"/>
          <p:cNvSpPr/>
          <p:nvPr/>
        </p:nvSpPr>
        <p:spPr>
          <a:xfrm rot="-5400000">
            <a:off x="1617088" y="6896100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600200" y="6896100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BDDFB02-9BF3-4EB1-8990-201473AA633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8763000" y="1625863"/>
            <a:ext cx="8496300" cy="703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869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562933" y="571483"/>
            <a:ext cx="465767" cy="326037"/>
          </a:xfrm>
          <a:custGeom>
            <a:avLst/>
            <a:gdLst/>
            <a:ahLst/>
            <a:cxnLst/>
            <a:rect l="l" t="t" r="r" b="b"/>
            <a:pathLst>
              <a:path w="465767" h="326037">
                <a:moveTo>
                  <a:pt x="0" y="0"/>
                </a:moveTo>
                <a:lnTo>
                  <a:pt x="465767" y="0"/>
                </a:lnTo>
                <a:lnTo>
                  <a:pt x="465767" y="326037"/>
                </a:lnTo>
                <a:lnTo>
                  <a:pt x="0" y="326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83944" y="8473390"/>
            <a:ext cx="2140986" cy="2140986"/>
          </a:xfrm>
          <a:custGeom>
            <a:avLst/>
            <a:gdLst/>
            <a:ahLst/>
            <a:cxnLst/>
            <a:rect l="l" t="t" r="r" b="b"/>
            <a:pathLst>
              <a:path w="2140986" h="2140986">
                <a:moveTo>
                  <a:pt x="0" y="0"/>
                </a:moveTo>
                <a:lnTo>
                  <a:pt x="2140986" y="0"/>
                </a:lnTo>
                <a:lnTo>
                  <a:pt x="2140986" y="2140986"/>
                </a:lnTo>
                <a:lnTo>
                  <a:pt x="0" y="2140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7259532" y="1465203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644943" y="9510869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-5400000">
            <a:off x="17276420" y="1465203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-5400000">
            <a:off x="661831" y="9510869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4096018" y="2716412"/>
            <a:ext cx="675794" cy="673337"/>
          </a:xfrm>
          <a:custGeom>
            <a:avLst/>
            <a:gdLst/>
            <a:ahLst/>
            <a:cxnLst/>
            <a:rect l="l" t="t" r="r" b="b"/>
            <a:pathLst>
              <a:path w="675794" h="673337">
                <a:moveTo>
                  <a:pt x="0" y="0"/>
                </a:moveTo>
                <a:lnTo>
                  <a:pt x="675794" y="0"/>
                </a:lnTo>
                <a:lnTo>
                  <a:pt x="675794" y="673337"/>
                </a:lnTo>
                <a:lnTo>
                  <a:pt x="0" y="6733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130734" y="6254317"/>
            <a:ext cx="788149" cy="618697"/>
          </a:xfrm>
          <a:custGeom>
            <a:avLst/>
            <a:gdLst/>
            <a:ahLst/>
            <a:cxnLst/>
            <a:rect l="l" t="t" r="r" b="b"/>
            <a:pathLst>
              <a:path w="788149" h="618697">
                <a:moveTo>
                  <a:pt x="0" y="0"/>
                </a:moveTo>
                <a:lnTo>
                  <a:pt x="788149" y="0"/>
                </a:lnTo>
                <a:lnTo>
                  <a:pt x="788149" y="618697"/>
                </a:lnTo>
                <a:lnTo>
                  <a:pt x="0" y="6186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999525" y="6260489"/>
            <a:ext cx="711205" cy="612525"/>
          </a:xfrm>
          <a:custGeom>
            <a:avLst/>
            <a:gdLst/>
            <a:ahLst/>
            <a:cxnLst/>
            <a:rect l="l" t="t" r="r" b="b"/>
            <a:pathLst>
              <a:path w="711205" h="612525">
                <a:moveTo>
                  <a:pt x="0" y="0"/>
                </a:moveTo>
                <a:lnTo>
                  <a:pt x="711205" y="0"/>
                </a:lnTo>
                <a:lnTo>
                  <a:pt x="711205" y="612525"/>
                </a:lnTo>
                <a:lnTo>
                  <a:pt x="0" y="6125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77640" y="1465204"/>
            <a:ext cx="16251349" cy="692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4400" b="1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Чем отличается от </a:t>
            </a:r>
            <a:r>
              <a:rPr lang="ru-RU" sz="4400" b="1" dirty="0" err="1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Meshtastic</a:t>
            </a:r>
            <a:r>
              <a:rPr lang="ru-RU" sz="4400" b="1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 других систем?</a:t>
            </a:r>
            <a:endParaRPr lang="ru-RU" sz="4400" dirty="0">
              <a:effectLst/>
              <a:latin typeface="Arial Black" panose="020B0A040201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" name="Таблица 25">
            <a:extLst>
              <a:ext uri="{FF2B5EF4-FFF2-40B4-BE49-F238E27FC236}">
                <a16:creationId xmlns:a16="http://schemas.microsoft.com/office/drawing/2014/main" id="{391654FB-E1BA-41BB-BB74-28AC360AB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962526"/>
              </p:ext>
            </p:extLst>
          </p:nvPr>
        </p:nvGraphicFramePr>
        <p:xfrm>
          <a:off x="1277640" y="2404894"/>
          <a:ext cx="14724357" cy="65677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08119">
                  <a:extLst>
                    <a:ext uri="{9D8B030D-6E8A-4147-A177-3AD203B41FA5}">
                      <a16:colId xmlns:a16="http://schemas.microsoft.com/office/drawing/2014/main" val="3958827524"/>
                    </a:ext>
                  </a:extLst>
                </a:gridCol>
                <a:gridCol w="4908119">
                  <a:extLst>
                    <a:ext uri="{9D8B030D-6E8A-4147-A177-3AD203B41FA5}">
                      <a16:colId xmlns:a16="http://schemas.microsoft.com/office/drawing/2014/main" val="1623111189"/>
                    </a:ext>
                  </a:extLst>
                </a:gridCol>
                <a:gridCol w="4908119">
                  <a:extLst>
                    <a:ext uri="{9D8B030D-6E8A-4147-A177-3AD203B41FA5}">
                      <a16:colId xmlns:a16="http://schemas.microsoft.com/office/drawing/2014/main" val="4119128175"/>
                    </a:ext>
                  </a:extLst>
                </a:gridCol>
              </a:tblGrid>
              <a:tr h="68006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1" spc="-1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Особенность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1" spc="-10" dirty="0" err="1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Meshcore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800" b="1" spc="-10" dirty="0" err="1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Meshtastic</a:t>
                      </a:r>
                      <a:endParaRPr lang="ru-RU" sz="2400" b="1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06929"/>
                  </a:ext>
                </a:extLst>
              </a:tr>
              <a:tr h="14669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Маршрутизация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Гибридная (наводнение + прямой путь)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Полное наводнение (каждый пакет повторяется всеми)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436489"/>
                  </a:ext>
                </a:extLst>
              </a:tr>
              <a:tr h="10656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Повторение клиентами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Нет (только ретрансляторы)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Да (все устройства)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139517"/>
                  </a:ext>
                </a:extLst>
              </a:tr>
              <a:tr h="10656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Серверы комнат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Есть (хранение истории)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Нет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794407"/>
                  </a:ext>
                </a:extLst>
              </a:tr>
              <a:tr h="68006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Макс. хопов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64</a:t>
                      </a:r>
                      <a:endParaRPr lang="ru-RU" sz="200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7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314819"/>
                  </a:ext>
                </a:extLst>
              </a:tr>
              <a:tr h="14585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Энергопотребление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Оптимизировано (режим сна)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400" spc="-10" dirty="0">
                          <a:solidFill>
                            <a:schemeClr val="tx1"/>
                          </a:solidFill>
                          <a:effectLst/>
                          <a:latin typeface="Cascadia Code SemiBold" panose="020B0609020000020004" pitchFamily="49" charset="0"/>
                          <a:ea typeface="Cascadia Code SemiBold" panose="020B0609020000020004" pitchFamily="49" charset="0"/>
                          <a:cs typeface="Cascadia Code SemiBold" panose="020B0609020000020004" pitchFamily="49" charset="0"/>
                        </a:rPr>
                        <a:t>Выше из-за постоянного повторения</a:t>
                      </a:r>
                      <a:endParaRPr lang="ru-RU" sz="2000" dirty="0">
                        <a:solidFill>
                          <a:schemeClr val="tx1"/>
                        </a:solidFill>
                        <a:effectLst/>
                        <a:latin typeface="Cascadia Code SemiBold" panose="020B0609020000020004" pitchFamily="49" charset="0"/>
                        <a:ea typeface="Cascadia Code SemiBold" panose="020B0609020000020004" pitchFamily="49" charset="0"/>
                        <a:cs typeface="Cascadia Code SemiBold" panose="020B0609020000020004" pitchFamily="49" charset="0"/>
                      </a:endParaRPr>
                    </a:p>
                  </a:txBody>
                  <a:tcPr marL="170341" marR="170341" marT="170341" marB="170341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906677"/>
                  </a:ext>
                </a:extLst>
              </a:tr>
            </a:tbl>
          </a:graphicData>
        </a:graphic>
      </p:graphicFrame>
      <p:sp>
        <p:nvSpPr>
          <p:cNvPr id="27" name="AutoShape 10">
            <a:extLst>
              <a:ext uri="{FF2B5EF4-FFF2-40B4-BE49-F238E27FC236}">
                <a16:creationId xmlns:a16="http://schemas.microsoft.com/office/drawing/2014/main" id="{320AAE6E-D329-48CA-9CC8-CF412AD7A6C1}"/>
              </a:ext>
            </a:extLst>
          </p:cNvPr>
          <p:cNvSpPr/>
          <p:nvPr/>
        </p:nvSpPr>
        <p:spPr>
          <a:xfrm flipH="1" flipV="1">
            <a:off x="5486400" y="3086100"/>
            <a:ext cx="42707" cy="53872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10">
            <a:extLst>
              <a:ext uri="{FF2B5EF4-FFF2-40B4-BE49-F238E27FC236}">
                <a16:creationId xmlns:a16="http://schemas.microsoft.com/office/drawing/2014/main" id="{3DA6CBBB-2807-4774-8B77-81308856FC9F}"/>
              </a:ext>
            </a:extLst>
          </p:cNvPr>
          <p:cNvSpPr/>
          <p:nvPr/>
        </p:nvSpPr>
        <p:spPr>
          <a:xfrm flipH="1" flipV="1">
            <a:off x="10744198" y="3086100"/>
            <a:ext cx="42707" cy="53872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10">
            <a:extLst>
              <a:ext uri="{FF2B5EF4-FFF2-40B4-BE49-F238E27FC236}">
                <a16:creationId xmlns:a16="http://schemas.microsoft.com/office/drawing/2014/main" id="{A3219696-50A7-489D-BD10-6235CC64E05C}"/>
              </a:ext>
            </a:extLst>
          </p:cNvPr>
          <p:cNvSpPr/>
          <p:nvPr/>
        </p:nvSpPr>
        <p:spPr>
          <a:xfrm flipH="1">
            <a:off x="1084668" y="3299182"/>
            <a:ext cx="15925692" cy="905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666DCA48-0A87-48F8-8E38-A664C36EFA2B}"/>
              </a:ext>
            </a:extLst>
          </p:cNvPr>
          <p:cNvSpPr/>
          <p:nvPr/>
        </p:nvSpPr>
        <p:spPr>
          <a:xfrm flipH="1">
            <a:off x="1084668" y="4486394"/>
            <a:ext cx="15925692" cy="905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10">
            <a:extLst>
              <a:ext uri="{FF2B5EF4-FFF2-40B4-BE49-F238E27FC236}">
                <a16:creationId xmlns:a16="http://schemas.microsoft.com/office/drawing/2014/main" id="{9B570A48-9860-4826-9F79-D16E77532CA5}"/>
              </a:ext>
            </a:extLst>
          </p:cNvPr>
          <p:cNvSpPr/>
          <p:nvPr/>
        </p:nvSpPr>
        <p:spPr>
          <a:xfrm flipH="1">
            <a:off x="1028700" y="5612582"/>
            <a:ext cx="15925692" cy="905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AutoShape 10">
            <a:extLst>
              <a:ext uri="{FF2B5EF4-FFF2-40B4-BE49-F238E27FC236}">
                <a16:creationId xmlns:a16="http://schemas.microsoft.com/office/drawing/2014/main" id="{A8EDF058-5022-471B-9F61-2A2E2E38FC58}"/>
              </a:ext>
            </a:extLst>
          </p:cNvPr>
          <p:cNvSpPr/>
          <p:nvPr/>
        </p:nvSpPr>
        <p:spPr>
          <a:xfrm flipH="1">
            <a:off x="1028700" y="6799794"/>
            <a:ext cx="15925692" cy="905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AutoShape 10">
            <a:extLst>
              <a:ext uri="{FF2B5EF4-FFF2-40B4-BE49-F238E27FC236}">
                <a16:creationId xmlns:a16="http://schemas.microsoft.com/office/drawing/2014/main" id="{3CA1E112-79CB-4D1D-88FF-51EF121D78E9}"/>
              </a:ext>
            </a:extLst>
          </p:cNvPr>
          <p:cNvSpPr/>
          <p:nvPr/>
        </p:nvSpPr>
        <p:spPr>
          <a:xfrm flipH="1">
            <a:off x="1028700" y="7681787"/>
            <a:ext cx="15925692" cy="9056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08225" y="9258300"/>
            <a:ext cx="108510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562933" y="571483"/>
            <a:ext cx="465767" cy="326037"/>
          </a:xfrm>
          <a:custGeom>
            <a:avLst/>
            <a:gdLst/>
            <a:ahLst/>
            <a:cxnLst/>
            <a:rect l="l" t="t" r="r" b="b"/>
            <a:pathLst>
              <a:path w="465767" h="326037">
                <a:moveTo>
                  <a:pt x="0" y="0"/>
                </a:moveTo>
                <a:lnTo>
                  <a:pt x="465767" y="0"/>
                </a:lnTo>
                <a:lnTo>
                  <a:pt x="465767" y="326037"/>
                </a:lnTo>
                <a:lnTo>
                  <a:pt x="0" y="3260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83944" y="6082738"/>
            <a:ext cx="2140986" cy="2140986"/>
          </a:xfrm>
          <a:custGeom>
            <a:avLst/>
            <a:gdLst/>
            <a:ahLst/>
            <a:cxnLst/>
            <a:rect l="l" t="t" r="r" b="b"/>
            <a:pathLst>
              <a:path w="2140986" h="2140986">
                <a:moveTo>
                  <a:pt x="0" y="0"/>
                </a:moveTo>
                <a:lnTo>
                  <a:pt x="2140986" y="0"/>
                </a:lnTo>
                <a:lnTo>
                  <a:pt x="2140986" y="2140986"/>
                </a:lnTo>
                <a:lnTo>
                  <a:pt x="0" y="21409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16990404" y="1383755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rot="-5400000">
            <a:off x="17007292" y="1383755"/>
            <a:ext cx="505139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2380355" y="1636325"/>
            <a:ext cx="17830800" cy="3394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797"/>
              </a:lnSpc>
            </a:pPr>
            <a:r>
              <a:rPr lang="ru-RU" sz="8800" dirty="0">
                <a:solidFill>
                  <a:srgbClr val="000000"/>
                </a:solidFill>
                <a:latin typeface="Arial Black" panose="020B0A04020102020204" pitchFamily="34" charset="0"/>
                <a:ea typeface="Poppins"/>
                <a:cs typeface="Poppins"/>
                <a:sym typeface="Poppins"/>
              </a:rPr>
              <a:t>Спасибо </a:t>
            </a:r>
          </a:p>
          <a:p>
            <a:pPr algn="l">
              <a:lnSpc>
                <a:spcPts val="13797"/>
              </a:lnSpc>
            </a:pPr>
            <a:r>
              <a:rPr lang="ru-RU" sz="8800" dirty="0">
                <a:solidFill>
                  <a:srgbClr val="000000"/>
                </a:solidFill>
                <a:latin typeface="Arial Black" panose="020B0A04020102020204" pitchFamily="34" charset="0"/>
                <a:ea typeface="Poppins"/>
                <a:cs typeface="Poppins"/>
                <a:sym typeface="Poppins"/>
              </a:rPr>
              <a:t>                    за внимание</a:t>
            </a:r>
            <a:endParaRPr lang="en-US" sz="8800" dirty="0">
              <a:solidFill>
                <a:srgbClr val="000000"/>
              </a:solidFill>
              <a:latin typeface="Arial Black" panose="020B0A04020102020204" pitchFamily="34" charset="0"/>
              <a:ea typeface="Poppins"/>
              <a:cs typeface="Poppins"/>
              <a:sym typeface="Poppins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5C43A82-5071-4A32-9E04-A3234C6F45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355" y="1875699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175</Words>
  <Application>Microsoft Office PowerPoint</Application>
  <PresentationFormat>Произвольный</PresentationFormat>
  <Paragraphs>36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Times New Roman</vt:lpstr>
      <vt:lpstr>Arial Black</vt:lpstr>
      <vt:lpstr>Calibri</vt:lpstr>
      <vt:lpstr>Cascadia Code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Technology Device Presentation</dc:title>
  <dc:creator>admin</dc:creator>
  <cp:lastModifiedBy>admin .</cp:lastModifiedBy>
  <cp:revision>8</cp:revision>
  <dcterms:created xsi:type="dcterms:W3CDTF">2006-08-16T00:00:00Z</dcterms:created>
  <dcterms:modified xsi:type="dcterms:W3CDTF">2026-04-01T08:14:08Z</dcterms:modified>
  <dc:identifier>DAHCW5DEYTU</dc:identifier>
</cp:coreProperties>
</file>